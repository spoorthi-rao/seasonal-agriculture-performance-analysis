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5" r:id="rId12"/>
    <p:sldId id="344" r:id="rId13"/>
    <p:sldId id="346" r:id="rId14"/>
    <p:sldId id="347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49" d="100"/>
          <a:sy n="49" d="100"/>
        </p:scale>
        <p:origin x="72" y="78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oorthi-rao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6" y="3900067"/>
            <a:ext cx="10902274" cy="21827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u="sng" dirty="0">
                <a:solidFill>
                  <a:schemeClr val="tx1"/>
                </a:solidFill>
                <a:latin typeface="+mn-lt"/>
              </a:rPr>
              <a:t>PRESENTED BY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: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NAME: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SPOORTHI H RAO 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COLLEGE NAME : 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SAHYADRI COLLEGE OF ENGINEERING AND MANAGEMENT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24" y="2146869"/>
            <a:ext cx="11281456" cy="1897737"/>
          </a:xfrm>
        </p:spPr>
        <p:txBody>
          <a:bodyPr>
            <a:noAutofit/>
          </a:bodyPr>
          <a:lstStyle/>
          <a:p>
            <a:pPr algn="ctr"/>
            <a:r>
              <a:rPr lang="en-GB" sz="4400" b="1" dirty="0">
                <a:latin typeface="+mj-lt"/>
              </a:rPr>
              <a:t>PROJECT TITLE -</a:t>
            </a:r>
            <a:r>
              <a:rPr lang="en-IN" sz="4400" b="1" dirty="0">
                <a:latin typeface="+mj-lt"/>
              </a:rPr>
              <a:t>SEASONAL AGRICULTURE PERFORMANCE ANALYSIS 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5385909"/>
            <a:ext cx="818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AICTE STU ID : </a:t>
            </a:r>
            <a:r>
              <a:rPr lang="en-IN" sz="2400" dirty="0"/>
              <a:t>STU6a172b078bfc31779903239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4933" y="1353974"/>
            <a:ext cx="9005926" cy="51091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The problem is to </a:t>
            </a:r>
            <a:r>
              <a:rPr lang="en-IN" dirty="0" err="1"/>
              <a:t>analyze</a:t>
            </a:r>
            <a:r>
              <a:rPr lang="en-IN" dirty="0"/>
              <a:t> the given agricultural dataset and investigate seasonal differences in agricultural performance by identifying meaningful patterns, trends, relationships and variations within the available data.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6" y="563863"/>
            <a:ext cx="6995604" cy="790111"/>
          </a:xfrm>
        </p:spPr>
        <p:txBody>
          <a:bodyPr>
            <a:normAutofit/>
          </a:bodyPr>
          <a:lstStyle/>
          <a:p>
            <a:r>
              <a:rPr lang="en-US" sz="4000" dirty="0"/>
              <a:t>PROBLEM  STATEMENT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691" y="2527423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79" y="357192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7A092F-0A8A-11B3-702D-E09CFBD4DF99}"/>
              </a:ext>
            </a:extLst>
          </p:cNvPr>
          <p:cNvSpPr txBox="1"/>
          <p:nvPr/>
        </p:nvSpPr>
        <p:spPr>
          <a:xfrm>
            <a:off x="675957" y="1188189"/>
            <a:ext cx="1106424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dirty="0"/>
              <a:t>The project focuses on </a:t>
            </a:r>
            <a:r>
              <a:rPr lang="en-IN" sz="2000" dirty="0" err="1"/>
              <a:t>analyzing</a:t>
            </a:r>
            <a:r>
              <a:rPr lang="en-IN" sz="2000" dirty="0"/>
              <a:t> agricultural performance across different seasons using </a:t>
            </a:r>
            <a:r>
              <a:rPr lang="en-IN" sz="2000" b="1" dirty="0"/>
              <a:t>data analysis and visualization techniques</a:t>
            </a:r>
            <a:r>
              <a:rPr lang="en-IN" sz="2000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The dataset was </a:t>
            </a:r>
            <a:r>
              <a:rPr lang="en-IN" sz="2000" dirty="0" err="1"/>
              <a:t>analyzed</a:t>
            </a:r>
            <a:r>
              <a:rPr lang="en-IN" sz="2000" dirty="0"/>
              <a:t> to understand variations in: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Crop yield and production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Profitability and revenue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Rainfall and temperature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Irrigation methods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Water usage and efficiency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Crop performance across seasons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Disease and pest risk </a:t>
            </a:r>
          </a:p>
          <a:p>
            <a:pPr algn="ctr">
              <a:buNone/>
            </a:pPr>
            <a:r>
              <a:rPr lang="en-IN" sz="2000" b="1" u="sng" dirty="0"/>
              <a:t>Analysis Process</a:t>
            </a:r>
          </a:p>
          <a:p>
            <a:pPr algn="ctr">
              <a:buNone/>
            </a:pPr>
            <a:r>
              <a:rPr lang="en-IN" b="1" dirty="0"/>
              <a:t>Data Collection → Data Cleaning → Exploratory Analysis → Visualization → Seasonal Comparison → Insights →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673875"/>
            <a:ext cx="5800464" cy="4502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👨‍🌾 Farmers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Support seasonal crop planning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Help compare crop and irrigation performance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Encourage efficient water usage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dirty="0"/>
              <a:t>🏛️ Government &amp; Agricultural Departments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Support data-driven agricultural planning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Identify seasonal production and profitability patterns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26" y="681196"/>
            <a:ext cx="10046070" cy="802641"/>
          </a:xfrm>
        </p:spPr>
        <p:txBody>
          <a:bodyPr>
            <a:normAutofit/>
          </a:bodyPr>
          <a:lstStyle/>
          <a:p>
            <a:r>
              <a:rPr lang="en-US" sz="4000" dirty="0"/>
              <a:t>WHO ARE THE END USERS?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9EF48-BDF4-5DD8-DCC4-80A58CA502E0}"/>
              </a:ext>
            </a:extLst>
          </p:cNvPr>
          <p:cNvSpPr txBox="1"/>
          <p:nvPr/>
        </p:nvSpPr>
        <p:spPr>
          <a:xfrm>
            <a:off x="6270512" y="1673875"/>
            <a:ext cx="5921488" cy="4375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📊 Agricultural Analysts &amp; Researchers</a:t>
            </a:r>
          </a:p>
          <a:p>
            <a:pPr marL="342900" lvl="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Study relationships between environmental and agricultural variables </a:t>
            </a:r>
          </a:p>
          <a:p>
            <a:pPr marL="342900" lvl="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Support further agricultural research </a:t>
            </a:r>
          </a:p>
          <a:p>
            <a:pPr lvl="0"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💼 Agribusiness &amp; Resource Managers</a:t>
            </a:r>
          </a:p>
          <a:p>
            <a:pPr marL="342900" lvl="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Understand production and profitability patterns</a:t>
            </a:r>
          </a:p>
          <a:p>
            <a:pPr marL="342900" lvl="0" indent="-342900"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IN" sz="2000" dirty="0"/>
              <a:t>Support operational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sz="4000" dirty="0"/>
              <a:t>TECHNOLOGY USED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AA0BA13-1C6F-B4F8-1628-782429213B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91267" y="2836328"/>
            <a:ext cx="2395612" cy="98383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N" sz="1800" dirty="0"/>
              <a:t>Data analysis and implementation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194F553-FD77-95F7-CD70-F32757C0F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9360" y="1053845"/>
            <a:ext cx="1429833" cy="142983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79FE75F-CDAE-8146-08C0-71E11A28D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4323" y="4192108"/>
            <a:ext cx="1969289" cy="113114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352D2D9-1169-79CE-7E2D-F7DF3674F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9360" y="5512336"/>
            <a:ext cx="2519509" cy="58363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0D776D0-4937-2F26-31EA-4FD735DFEC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0407" y="1499845"/>
            <a:ext cx="2179567" cy="9838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0DB0005-C75F-B627-BA3F-7678D4E046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688" y="3425572"/>
            <a:ext cx="2251905" cy="86494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BADF695-F289-451D-7A02-EFDB3683C8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000" y="1360262"/>
            <a:ext cx="1839880" cy="152394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2694F23-43F0-F684-D43F-4F266A1795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3670" y="4192108"/>
            <a:ext cx="2240657" cy="86494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662C978-4DB1-2342-D73F-A52184903EB8}"/>
              </a:ext>
            </a:extLst>
          </p:cNvPr>
          <p:cNvSpPr txBox="1"/>
          <p:nvPr/>
        </p:nvSpPr>
        <p:spPr>
          <a:xfrm>
            <a:off x="5091161" y="2496412"/>
            <a:ext cx="2675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Data loading, cleaning </a:t>
            </a:r>
          </a:p>
          <a:p>
            <a:pPr algn="ctr"/>
            <a:r>
              <a:rPr lang="en-IN" dirty="0"/>
              <a:t>and manipulation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F56911-758B-C95A-65AC-F1E8B2343CC7}"/>
              </a:ext>
            </a:extLst>
          </p:cNvPr>
          <p:cNvSpPr txBox="1"/>
          <p:nvPr/>
        </p:nvSpPr>
        <p:spPr>
          <a:xfrm>
            <a:off x="8959114" y="2681913"/>
            <a:ext cx="2909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Numerical operations and </a:t>
            </a:r>
          </a:p>
          <a:p>
            <a:pPr algn="ctr"/>
            <a:r>
              <a:rPr lang="en-IN" dirty="0"/>
              <a:t>statistical calculations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0D950D-63AA-D887-EF82-CD9A63897CB5}"/>
              </a:ext>
            </a:extLst>
          </p:cNvPr>
          <p:cNvSpPr txBox="1"/>
          <p:nvPr/>
        </p:nvSpPr>
        <p:spPr>
          <a:xfrm>
            <a:off x="1845834" y="5540035"/>
            <a:ext cx="2935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Development and analysis </a:t>
            </a:r>
          </a:p>
          <a:p>
            <a:pPr algn="ctr"/>
            <a:r>
              <a:rPr lang="en-IN" dirty="0"/>
              <a:t>environment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476A12-619F-0F81-5F4C-3E513BBAEF19}"/>
              </a:ext>
            </a:extLst>
          </p:cNvPr>
          <p:cNvSpPr txBox="1"/>
          <p:nvPr/>
        </p:nvSpPr>
        <p:spPr>
          <a:xfrm>
            <a:off x="5727144" y="4439915"/>
            <a:ext cx="203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Visualization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63B7D9-75B9-1F95-C1A2-964A191D18A6}"/>
              </a:ext>
            </a:extLst>
          </p:cNvPr>
          <p:cNvSpPr txBox="1"/>
          <p:nvPr/>
        </p:nvSpPr>
        <p:spPr>
          <a:xfrm>
            <a:off x="9240407" y="5216869"/>
            <a:ext cx="2783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Statistical and advanced </a:t>
            </a:r>
          </a:p>
          <a:p>
            <a:pPr algn="ctr"/>
            <a:r>
              <a:rPr lang="en-IN" dirty="0"/>
              <a:t>visualization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907085-4DF9-B3F9-360B-93867045A3F0}"/>
              </a:ext>
            </a:extLst>
          </p:cNvPr>
          <p:cNvSpPr txBox="1"/>
          <p:nvPr/>
        </p:nvSpPr>
        <p:spPr>
          <a:xfrm>
            <a:off x="5407757" y="6186366"/>
            <a:ext cx="3551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Project code and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32965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0518" y="786087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b="1" dirty="0"/>
              <a:t>SEASONAL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D83CF-A9C8-6347-380D-2BCA44C21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35" y="1337392"/>
            <a:ext cx="5078291" cy="350165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7AA620-F93F-282E-EE92-21517CB02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752" y="1328938"/>
            <a:ext cx="5420216" cy="350166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42D39E-5D72-3470-2A4B-368B30BDC51A}"/>
              </a:ext>
            </a:extLst>
          </p:cNvPr>
          <p:cNvSpPr txBox="1"/>
          <p:nvPr/>
        </p:nvSpPr>
        <p:spPr>
          <a:xfrm>
            <a:off x="797135" y="4739022"/>
            <a:ext cx="10597730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Kharif recorded the highest average yield of 5.63 tonnes/hectare.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Kharif also recorded the highest average profit of ₹1,78,914.65 per farm.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Zaid had the lowest average yield of 4.64 tonnes/hectare.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Zaid recorded a negative average profit of ₹24,804.82 per farm, indicating that average costs exceeded average revenue.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152234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40086" y="567732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AGRICULTURAL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A71F1-21ED-895F-22DD-2334AD7C3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4" y="1080611"/>
            <a:ext cx="5189443" cy="356103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458EA-DF04-73C0-4559-982EB991D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655" y="1080611"/>
            <a:ext cx="5362493" cy="3561031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D92617-F6C5-4670-0A5A-13960F197FB3}"/>
              </a:ext>
            </a:extLst>
          </p:cNvPr>
          <p:cNvSpPr txBox="1"/>
          <p:nvPr/>
        </p:nvSpPr>
        <p:spPr>
          <a:xfrm>
            <a:off x="534698" y="4739022"/>
            <a:ext cx="10981346" cy="211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Kharif recorded the highest average production at </a:t>
            </a:r>
            <a:r>
              <a:rPr lang="en-IN" b="1" dirty="0"/>
              <a:t>46.31 tonnes per farm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Rabi recorded an average production of </a:t>
            </a:r>
            <a:r>
              <a:rPr lang="en-IN" b="1" dirty="0"/>
              <a:t>41.49 tonnes per farm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Zaid recorded the lowest average production at </a:t>
            </a:r>
            <a:r>
              <a:rPr lang="en-IN" b="1" dirty="0"/>
              <a:t>38.89 tonnes per farm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Rainfall distribution varied across seasons providing environmental context for seasonal agricultural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264161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 </a:t>
            </a:r>
            <a:endParaRPr lang="en-IN" sz="4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973" y="1238326"/>
            <a:ext cx="4833485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CROP PERFORMANCE ACROSS SEASONS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D37B5-CEDA-D51F-0958-BE0A73AFD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3" y="1715847"/>
            <a:ext cx="6819406" cy="4097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E82483-E90B-EE22-8C25-EAF9CC1C1125}"/>
              </a:ext>
            </a:extLst>
          </p:cNvPr>
          <p:cNvSpPr txBox="1"/>
          <p:nvPr/>
        </p:nvSpPr>
        <p:spPr>
          <a:xfrm>
            <a:off x="320982" y="6028190"/>
            <a:ext cx="8697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Key Insight:</a:t>
            </a:r>
          </a:p>
          <a:p>
            <a:pPr>
              <a:buNone/>
            </a:pPr>
            <a:r>
              <a:rPr lang="en-IN" b="1" dirty="0"/>
              <a:t>Season-specific crop selection can help improve agricultural productivity.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B6818-6936-BDCD-F04B-0628E7D7647E}"/>
              </a:ext>
            </a:extLst>
          </p:cNvPr>
          <p:cNvSpPr txBox="1"/>
          <p:nvPr/>
        </p:nvSpPr>
        <p:spPr>
          <a:xfrm>
            <a:off x="7358516" y="1275371"/>
            <a:ext cx="4833484" cy="465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/>
              <a:t>Analysis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Crop performance varied considerably across seasons.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Sugarcane</a:t>
            </a:r>
            <a:r>
              <a:rPr lang="en-IN" dirty="0"/>
              <a:t> recorded the highest observed average yield of </a:t>
            </a:r>
            <a:r>
              <a:rPr lang="en-IN" b="1" dirty="0"/>
              <a:t>53.46 tonnes/hectare during Kharif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Pulses</a:t>
            </a:r>
            <a:r>
              <a:rPr lang="en-IN" dirty="0"/>
              <a:t> showed the lowest average yield across the seasons.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results highlight the importance of matching crop selection with seasonal conditions.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59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49161" y="1021788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IRRIGATION METHOD VS YIELD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2708C-EAF8-4B22-970C-977F0B549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80" y="1530716"/>
            <a:ext cx="6389100" cy="44389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34239F-F2BB-C88B-20C1-9DC826BDA818}"/>
              </a:ext>
            </a:extLst>
          </p:cNvPr>
          <p:cNvSpPr txBox="1"/>
          <p:nvPr/>
        </p:nvSpPr>
        <p:spPr>
          <a:xfrm>
            <a:off x="7395883" y="1295503"/>
            <a:ext cx="4596159" cy="465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/>
              <a:t>Analysis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Drip irrigation recorded the highest average yield at </a:t>
            </a:r>
            <a:r>
              <a:rPr lang="en-IN" b="1" dirty="0"/>
              <a:t>6.62 t/ha</a:t>
            </a:r>
            <a:r>
              <a:rPr lang="en-IN" dirty="0"/>
              <a:t>, followed by Sprinkler (</a:t>
            </a:r>
            <a:r>
              <a:rPr lang="en-IN" b="1" dirty="0"/>
              <a:t>5.19 t/ha</a:t>
            </a:r>
            <a:r>
              <a:rPr lang="en-IN" dirty="0"/>
              <a:t>), Flood (</a:t>
            </a:r>
            <a:r>
              <a:rPr lang="en-IN" b="1" dirty="0"/>
              <a:t>4.90 t/ha</a:t>
            </a:r>
            <a:r>
              <a:rPr lang="en-IN" dirty="0"/>
              <a:t>), and Rainfed (</a:t>
            </a:r>
            <a:r>
              <a:rPr lang="en-IN" b="1" dirty="0"/>
              <a:t>4.61 t/ha</a:t>
            </a:r>
            <a:r>
              <a:rPr lang="en-IN" dirty="0"/>
              <a:t>).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results show noticeable differences in yield across irrigation methods.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Drip irrigation was associated with better yield performance in the dataset.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E34F32-C01D-C0E6-6373-ED86AFB6B406}"/>
              </a:ext>
            </a:extLst>
          </p:cNvPr>
          <p:cNvSpPr txBox="1"/>
          <p:nvPr/>
        </p:nvSpPr>
        <p:spPr>
          <a:xfrm>
            <a:off x="320982" y="6079581"/>
            <a:ext cx="8551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Key Insight:</a:t>
            </a:r>
          </a:p>
          <a:p>
            <a:pPr>
              <a:buNone/>
            </a:pPr>
            <a:r>
              <a:rPr lang="en-IN" b="1" dirty="0"/>
              <a:t>Efficient irrigation methods were associated with higher agricultural yield.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271623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54421" y="1092005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WATER EFFICIENCY VS PROFIT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EDD3B-94A8-236A-4DF0-29CF461C1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" y="1608410"/>
            <a:ext cx="6126665" cy="43612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BDDEED-7CA9-9FAC-0EF6-7D8448C03DCA}"/>
              </a:ext>
            </a:extLst>
          </p:cNvPr>
          <p:cNvSpPr txBox="1"/>
          <p:nvPr/>
        </p:nvSpPr>
        <p:spPr>
          <a:xfrm>
            <a:off x="7183650" y="1339993"/>
            <a:ext cx="4977409" cy="4242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/>
              <a:t>Analysis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Water efficiency showed a </a:t>
            </a:r>
            <a:r>
              <a:rPr lang="en-IN" b="1" dirty="0"/>
              <a:t>moderate positive correlation with profit(r = 0.489)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Farms with higher water efficiency generally tended to achieve higher profitability.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highlights the importance of efficient water management in agricultural operations.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DC6E7-9FD8-E395-D734-0E2647F33112}"/>
              </a:ext>
            </a:extLst>
          </p:cNvPr>
          <p:cNvSpPr txBox="1"/>
          <p:nvPr/>
        </p:nvSpPr>
        <p:spPr>
          <a:xfrm>
            <a:off x="584438" y="6137919"/>
            <a:ext cx="9087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/>
              <a:t>Key Insight:</a:t>
            </a:r>
          </a:p>
          <a:p>
            <a:pPr>
              <a:buNone/>
            </a:pPr>
            <a:r>
              <a:rPr lang="en-IN" b="1" dirty="0"/>
              <a:t>Better water efficiency was associated with higher farm profitability.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DB86-A9EF-94AF-7238-65ABECC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FD34ED-B758-E6D8-C1A2-D2CB06B53D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FC49BD-31A7-876F-FFAF-574D4A11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271623"/>
            <a:ext cx="2981643" cy="830997"/>
          </a:xfrm>
        </p:spPr>
        <p:txBody>
          <a:bodyPr>
            <a:normAutofit/>
          </a:bodyPr>
          <a:lstStyle/>
          <a:p>
            <a:r>
              <a:rPr lang="en-GB" sz="44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6EDC82F-A1D8-2100-DF6B-D1D2E600A07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2FEEF53-EFC2-7424-1711-721C47D974B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8145819-5A4E-80E7-7D3E-F34D41304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08125" y="1030860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DISEASE/PEST RISK VS YIELD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AC9BA7-50EF-B920-64B0-C395F82DDA70}"/>
              </a:ext>
            </a:extLst>
          </p:cNvPr>
          <p:cNvSpPr txBox="1"/>
          <p:nvPr/>
        </p:nvSpPr>
        <p:spPr>
          <a:xfrm>
            <a:off x="584438" y="6137919"/>
            <a:ext cx="9087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Key Insight:</a:t>
            </a:r>
          </a:p>
          <a:p>
            <a:r>
              <a:rPr lang="en-IN" b="1" dirty="0"/>
              <a:t>Disease/pest risk alone showed limited linear association with agricultural yield.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B0879-0F28-D28D-CBC2-4DBA28FD6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40" y="1547816"/>
            <a:ext cx="6502857" cy="45506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B8355D-9BBE-4699-6511-AEB9C0A8C8A5}"/>
              </a:ext>
            </a:extLst>
          </p:cNvPr>
          <p:cNvSpPr txBox="1"/>
          <p:nvPr/>
        </p:nvSpPr>
        <p:spPr>
          <a:xfrm>
            <a:off x="7320240" y="1801658"/>
            <a:ext cx="4704229" cy="382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/>
              <a:t>Analysis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Disease and pest risk showed an </a:t>
            </a:r>
            <a:r>
              <a:rPr lang="en-IN" b="1" dirty="0"/>
              <a:t>almost negligible linear correlation with yield (r = 0.013)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Risk variation alone did not show a significant relationship with crop yield in the dataset.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Other factors may have a greater influence on agricultural yield.</a:t>
            </a:r>
          </a:p>
        </p:txBody>
      </p:sp>
    </p:spTree>
    <p:extLst>
      <p:ext uri="{BB962C8B-B14F-4D97-AF65-F5344CB8AC3E}">
        <p14:creationId xmlns:p14="http://schemas.microsoft.com/office/powerpoint/2010/main" val="8315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DE8B2-5156-3983-4B0E-96C6E0BFBD38}"/>
              </a:ext>
            </a:extLst>
          </p:cNvPr>
          <p:cNvSpPr txBox="1"/>
          <p:nvPr/>
        </p:nvSpPr>
        <p:spPr>
          <a:xfrm>
            <a:off x="788101" y="1197076"/>
            <a:ext cx="10557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project can be extended beyond exploratory analysis to develop a more comprehensive agricultural decision-support system.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28A61C-C234-FC7E-9BC8-50EB7C8CDD51}"/>
              </a:ext>
            </a:extLst>
          </p:cNvPr>
          <p:cNvSpPr txBox="1"/>
          <p:nvPr/>
        </p:nvSpPr>
        <p:spPr>
          <a:xfrm>
            <a:off x="842051" y="2160826"/>
            <a:ext cx="9999638" cy="3134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Predictive </a:t>
            </a:r>
            <a:r>
              <a:rPr lang="en-IN" sz="2000" b="1" dirty="0" err="1"/>
              <a:t>Modeling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IN" dirty="0"/>
              <a:t>Develop machine learning models to predict crop yield and profitability.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Weather Integration:</a:t>
            </a:r>
            <a:r>
              <a:rPr lang="en-IN" sz="2000" dirty="0"/>
              <a:t> </a:t>
            </a:r>
            <a:r>
              <a:rPr lang="en-IN" dirty="0"/>
              <a:t>Incorporate real-time rainfall, temperature, humidity, and climate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Soil Analysis:</a:t>
            </a:r>
            <a:r>
              <a:rPr lang="en-IN" sz="2000" dirty="0"/>
              <a:t> </a:t>
            </a:r>
            <a:r>
              <a:rPr lang="en-IN" dirty="0"/>
              <a:t>Include soil quality, moisture, nutrient, and soil-type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Crop Recommendation:</a:t>
            </a:r>
            <a:r>
              <a:rPr lang="en-IN" sz="2000" dirty="0"/>
              <a:t> </a:t>
            </a:r>
            <a:r>
              <a:rPr lang="en-IN" dirty="0"/>
              <a:t>Develop a system to recommend suitable crops based on season, soil, weather, and resource availability.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6E88E-CCDD-D533-64E2-B6ABE239E623}"/>
              </a:ext>
            </a:extLst>
          </p:cNvPr>
          <p:cNvSpPr txBox="1"/>
          <p:nvPr/>
        </p:nvSpPr>
        <p:spPr>
          <a:xfrm>
            <a:off x="1747519" y="5644900"/>
            <a:ext cx="7880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Future development can transform the current analytical study into a data-driven agricultural decision-support solution.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B57B2-6272-41B3-01F0-685450414A65}"/>
              </a:ext>
            </a:extLst>
          </p:cNvPr>
          <p:cNvSpPr txBox="1"/>
          <p:nvPr/>
        </p:nvSpPr>
        <p:spPr>
          <a:xfrm>
            <a:off x="1036767" y="1710616"/>
            <a:ext cx="3564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/>
              <a:t>View the project here: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EA10A-E15D-6DE2-A014-CCD7BEAA38A6}"/>
              </a:ext>
            </a:extLst>
          </p:cNvPr>
          <p:cNvSpPr txBox="1"/>
          <p:nvPr/>
        </p:nvSpPr>
        <p:spPr>
          <a:xfrm>
            <a:off x="1635672" y="2376694"/>
            <a:ext cx="9352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linkClick r:id="rId3"/>
              </a:rPr>
              <a:t>Seasonal-Agriculture-Performance-Analysis</a:t>
            </a:r>
            <a:endParaRPr lang="en-IN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29B18-93A1-8920-A394-3CCA3B4E953B}"/>
              </a:ext>
            </a:extLst>
          </p:cNvPr>
          <p:cNvSpPr txBox="1"/>
          <p:nvPr/>
        </p:nvSpPr>
        <p:spPr>
          <a:xfrm>
            <a:off x="675957" y="2910272"/>
            <a:ext cx="8611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https://github.com/Spoorthi-rao/Seasonal-Agriculture-Performance-Analysis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6D19F-099C-D381-BB3E-8325A3FA6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495" y="1560905"/>
            <a:ext cx="7484011" cy="500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2927418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712</TotalTime>
  <Words>803</Words>
  <Application>Microsoft Office PowerPoint</Application>
  <PresentationFormat>Widescreen</PresentationFormat>
  <Paragraphs>110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 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Spoorthi Rao</cp:lastModifiedBy>
  <cp:revision>98</cp:revision>
  <dcterms:created xsi:type="dcterms:W3CDTF">2021-07-11T13:13:15Z</dcterms:created>
  <dcterms:modified xsi:type="dcterms:W3CDTF">2026-09-06T11:03:40Z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